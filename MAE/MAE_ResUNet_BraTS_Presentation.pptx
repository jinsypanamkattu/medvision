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MAE Pretraining for Medical Image Segmentation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114300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BraTS Brain Tumour Segmentation · ResUNet Fine-Tuning · Semi-Supervised Learning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737360"/>
            <a:ext cx="1371600" cy="1143000"/>
          </a:xfrm>
          <a:prstGeom prst="rect">
            <a:avLst/>
          </a:prstGeom>
          <a:solidFill>
            <a:srgbClr val="161B22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2286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19072" y="1737360"/>
            <a:ext cx="1371600" cy="1143000"/>
          </a:xfrm>
          <a:prstGeom prst="rect">
            <a:avLst/>
          </a:prstGeom>
          <a:solidFill>
            <a:srgbClr val="161B22"/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19072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719072" y="2286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63824" y="1737360"/>
            <a:ext cx="1371600" cy="1143000"/>
          </a:xfrm>
          <a:prstGeom prst="rect">
            <a:avLst/>
          </a:prstGeom>
          <a:solidFill>
            <a:srgbClr val="161B22"/>
          </a:solidFill>
          <a:ln w="25400">
            <a:solidFill>
              <a:srgbClr val="E848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63824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🟠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163824" y="2286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08576" y="1737360"/>
            <a:ext cx="1371600" cy="1143000"/>
          </a:xfrm>
          <a:prstGeom prst="rect">
            <a:avLst/>
          </a:prstGeom>
          <a:solidFill>
            <a:srgbClr val="161B22"/>
          </a:solidFill>
          <a:ln w="25400">
            <a:solidFill>
              <a:srgbClr val="7B2F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08576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08576" y="2286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53328" y="1737360"/>
            <a:ext cx="1371600" cy="1143000"/>
          </a:xfrm>
          <a:prstGeom prst="rect">
            <a:avLst/>
          </a:prstGeom>
          <a:solidFill>
            <a:srgbClr val="161B22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53328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053328" y="2286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ResUNet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98080" y="1737360"/>
            <a:ext cx="1371600" cy="1143000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0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98080" y="2286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Results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" y="30632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· Vision Transformer · BraTS 2020/2021/2023 · Dice / IoU / HD95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5" name="Text 23"/>
          <p:cNvSpPr/>
          <p:nvPr/>
        </p:nvSpPr>
        <p:spPr>
          <a:xfrm>
            <a:off x="182880" y="486460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MAE Pretraining  →  Feature Extraction  →  Pseudo-Labeling  →  ResUNet Fine-Tuning  →  Evaluation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Problem Statement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640080"/>
            <a:ext cx="4023360" cy="1920240"/>
          </a:xfrm>
          <a:prstGeom prst="rect">
            <a:avLst/>
          </a:prstGeom>
          <a:solidFill>
            <a:srgbClr val="161B22"/>
          </a:solidFill>
          <a:ln w="19050">
            <a:solidFill>
              <a:srgbClr val="E848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6583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033272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image annotation is expensive &amp; scarce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BraTS requires expert neuroradiologist labels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models overfit with limited data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Unlabeled MRI scans are abundant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937760" y="640080"/>
            <a:ext cx="4023360" cy="1920240"/>
          </a:xfrm>
          <a:prstGeom prst="rect">
            <a:avLst/>
          </a:prstGeom>
          <a:solidFill>
            <a:srgbClr val="161B22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83480" y="6583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1033272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self-supervised pretraining on unlabeled MRI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patch masking forces global context learning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Feature-space pseudo-labeling bridges architectures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ResUNet fine-tuned with just 5%–100% labels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82880" y="2697480"/>
            <a:ext cx="877824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743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BraTS Dataset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3090672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554480" y="3090672"/>
            <a:ext cx="7223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tumour segmentation (multi-class)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0040" y="3246120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Modalities: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554480" y="3246120"/>
            <a:ext cx="7223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T1n · T1c (T1ce) · T2w · T2-FLAIR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0040" y="3401568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554480" y="3401568"/>
            <a:ext cx="7223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 Background · 1: NCR (Necrotic) · 2: ED (Edema) · 3: ET (Enhancing Tumour)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0040" y="3557016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554480" y="3557016"/>
            <a:ext cx="7223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NIfTI (.nii.gz) volumes → sliced to 2D axially, resized 224×224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0040" y="3712464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note: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554480" y="3712464"/>
            <a:ext cx="7223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BraTS 2020 label 4 → remapped to 3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4069080"/>
            <a:ext cx="1828800" cy="777240"/>
          </a:xfrm>
          <a:prstGeom prst="rect">
            <a:avLst/>
          </a:prstGeom>
          <a:solidFill>
            <a:srgbClr val="21262D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114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57200" y="45079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Mask Ratio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60320" y="4069080"/>
            <a:ext cx="1828800" cy="777240"/>
          </a:xfrm>
          <a:prstGeom prst="rect">
            <a:avLst/>
          </a:prstGeom>
          <a:solidFill>
            <a:srgbClr val="21262D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0" y="4114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2560320" y="45079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Tumour Classes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4069080"/>
            <a:ext cx="1828800" cy="777240"/>
          </a:xfrm>
          <a:prstGeom prst="rect">
            <a:avLst/>
          </a:prstGeom>
          <a:solidFill>
            <a:srgbClr val="21262D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4114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663440" y="45079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Resolution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766560" y="4069080"/>
            <a:ext cx="1828800" cy="777240"/>
          </a:xfrm>
          <a:prstGeom prst="rect">
            <a:avLst/>
          </a:prstGeom>
          <a:solidFill>
            <a:srgbClr val="21262D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0" y="4114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2-Stage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766560" y="45079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+ Finetune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097280" cy="1371600"/>
          </a:xfrm>
          <a:prstGeom prst="rect">
            <a:avLst/>
          </a:prstGeom>
          <a:solidFill>
            <a:srgbClr val="161B22"/>
          </a:solidFill>
          <a:ln w="25400">
            <a:solidFill>
              <a:srgbClr val="8B94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BraTS NIfTI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627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T1n / T1c / T2w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T2-FLAIR + seg masks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563624" y="1371600"/>
            <a:ext cx="109728" cy="0"/>
          </a:xfrm>
          <a:prstGeom prst="line">
            <a:avLst/>
          </a:prstGeom>
          <a:noFill/>
          <a:ln w="25400">
            <a:solidFill>
              <a:srgbClr val="8B949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685800"/>
            <a:ext cx="1097280" cy="1371600"/>
          </a:xfrm>
          <a:prstGeom prst="rect">
            <a:avLst/>
          </a:prstGeom>
          <a:solidFill>
            <a:srgbClr val="161B22"/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0" y="731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✂️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45920" y="1143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45920" y="1627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axial slices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 clip [0,1]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52344" y="1371600"/>
            <a:ext cx="109728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34640" y="685800"/>
            <a:ext cx="1097280" cy="1371600"/>
          </a:xfrm>
          <a:prstGeom prst="rect">
            <a:avLst/>
          </a:prstGeom>
          <a:solidFill>
            <a:srgbClr val="161B22"/>
          </a:solidFill>
          <a:ln w="25400">
            <a:solidFill>
              <a:srgbClr val="E848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34640" y="731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🟠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834640" y="1143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34640" y="1627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ViT-B/16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masking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941064" y="1371600"/>
            <a:ext cx="109728" cy="0"/>
          </a:xfrm>
          <a:prstGeom prst="line">
            <a:avLst/>
          </a:prstGeom>
          <a:noFill/>
          <a:ln w="25400">
            <a:solidFill>
              <a:srgbClr val="E848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23360" y="685800"/>
            <a:ext cx="1097280" cy="1371600"/>
          </a:xfrm>
          <a:prstGeom prst="rect">
            <a:avLst/>
          </a:prstGeom>
          <a:solidFill>
            <a:srgbClr val="161B22"/>
          </a:solidFill>
          <a:ln w="25400">
            <a:solidFill>
              <a:srgbClr val="7B2F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0" y="731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023360" y="1143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023360" y="1627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CLS token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mask_ratio=0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129784" y="1371600"/>
            <a:ext cx="109728" cy="0"/>
          </a:xfrm>
          <a:prstGeom prst="line">
            <a:avLst/>
          </a:prstGeom>
          <a:noFill/>
          <a:ln w="25400">
            <a:solidFill>
              <a:srgbClr val="7B2FB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12080" y="685800"/>
            <a:ext cx="1097280" cy="1371600"/>
          </a:xfrm>
          <a:prstGeom prst="rect">
            <a:avLst/>
          </a:prstGeom>
          <a:solidFill>
            <a:srgbClr val="161B22"/>
          </a:solidFill>
          <a:ln w="25400">
            <a:solidFill>
              <a:srgbClr val="D299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731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🏷️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212080" y="1143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12080" y="1627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cosine sim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≥ 0.70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318504" y="1371600"/>
            <a:ext cx="109728" cy="0"/>
          </a:xfrm>
          <a:prstGeom prst="line">
            <a:avLst/>
          </a:prstGeom>
          <a:noFill/>
          <a:ln w="25400">
            <a:solidFill>
              <a:srgbClr val="D299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685800"/>
            <a:ext cx="1097280" cy="1371600"/>
          </a:xfrm>
          <a:prstGeom prst="rect">
            <a:avLst/>
          </a:prstGeom>
          <a:solidFill>
            <a:srgbClr val="161B22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731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400800" y="1143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ResUNet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0" y="1627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ResNet34 + UNet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DiceCE loss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507224" y="1371600"/>
            <a:ext cx="109728" cy="0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89520" y="685800"/>
            <a:ext cx="1097280" cy="1371600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89520" y="731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589520" y="1143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Compare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589520" y="1627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/ IoU / HD95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UNet baseline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82880" y="2331720"/>
            <a:ext cx="8778240" cy="1828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" y="2423160"/>
            <a:ext cx="4297680" cy="1645920"/>
          </a:xfrm>
          <a:prstGeom prst="rect">
            <a:avLst/>
          </a:prstGeom>
          <a:solidFill>
            <a:srgbClr val="161B22"/>
          </a:solidFill>
          <a:ln w="19050">
            <a:solidFill>
              <a:srgbClr val="E8485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82880" y="2423160"/>
            <a:ext cx="4297680" cy="365760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244144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Self-Supervised Pretraining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292608" y="2834640"/>
            <a:ext cx="407822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labels required. MAE learns to reconstruct masked patches using only the unlabeled MRI slices. The encoder builds a rich feature space.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663440" y="2423160"/>
            <a:ext cx="4297680" cy="1645920"/>
          </a:xfrm>
          <a:prstGeom prst="rect">
            <a:avLst/>
          </a:prstGeom>
          <a:solidFill>
            <a:srgbClr val="161B22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63440" y="2423160"/>
            <a:ext cx="4297680" cy="3657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5" name="Text 43"/>
          <p:cNvSpPr/>
          <p:nvPr/>
        </p:nvSpPr>
        <p:spPr>
          <a:xfrm>
            <a:off x="4754880" y="244144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Semi-Supervised Fine-Tuning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4773168" y="2834640"/>
            <a:ext cx="407822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Pseudo-labels expand the training pool. ResUNet is fine-tuned with real + pseudo-labeled slices using DiceCE loss + OneCycleLR.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Architecture — Masked Autoencoder (ViT-Based)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37160" y="640080"/>
            <a:ext cx="1115568" cy="804672"/>
          </a:xfrm>
          <a:prstGeom prst="rect">
            <a:avLst/>
          </a:prstGeom>
          <a:solidFill>
            <a:srgbClr val="161B22"/>
          </a:solidFill>
          <a:ln w="25400">
            <a:solidFill>
              <a:srgbClr val="8B94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658368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Image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37160" y="1078992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 1, 224, 224)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252728" y="1042416"/>
            <a:ext cx="73152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9304" y="640080"/>
            <a:ext cx="1115568" cy="804672"/>
          </a:xfrm>
          <a:prstGeom prst="rect">
            <a:avLst/>
          </a:prstGeom>
          <a:solidFill>
            <a:srgbClr val="161B22"/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9304" y="658368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PatchEmbed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Conv2d(1→768, 16×16)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289304" y="1078992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 196, 768)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04872" y="1042416"/>
            <a:ext cx="73152" cy="0"/>
          </a:xfrm>
          <a:prstGeom prst="line">
            <a:avLst/>
          </a:prstGeom>
          <a:noFill/>
          <a:ln w="19050">
            <a:solidFill>
              <a:srgbClr val="F4A2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41448" y="640080"/>
            <a:ext cx="1115568" cy="804672"/>
          </a:xfrm>
          <a:prstGeom prst="rect">
            <a:avLst/>
          </a:prstGeom>
          <a:solidFill>
            <a:srgbClr val="161B22"/>
          </a:solidFill>
          <a:ln w="25400">
            <a:solidFill>
              <a:srgbClr val="D299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41448" y="658368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Masking (75%)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441448" y="1078992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49 of 196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557016" y="1042416"/>
            <a:ext cx="73152" cy="0"/>
          </a:xfrm>
          <a:prstGeom prst="line">
            <a:avLst/>
          </a:prstGeom>
          <a:noFill/>
          <a:ln w="19050">
            <a:solidFill>
              <a:srgbClr val="D299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93592" y="640080"/>
            <a:ext cx="1115568" cy="804672"/>
          </a:xfrm>
          <a:prstGeom prst="rect">
            <a:avLst/>
          </a:prstGeom>
          <a:solidFill>
            <a:srgbClr val="161B22"/>
          </a:solidFill>
          <a:ln w="25400">
            <a:solidFill>
              <a:srgbClr val="E848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93592" y="658368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Encoder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layers, d=768, h=12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593592" y="1078992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 50, 768)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+CLS token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09160" y="1042416"/>
            <a:ext cx="73152" cy="0"/>
          </a:xfrm>
          <a:prstGeom prst="line">
            <a:avLst/>
          </a:prstGeom>
          <a:noFill/>
          <a:ln w="19050">
            <a:solidFill>
              <a:srgbClr val="E848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45736" y="640080"/>
            <a:ext cx="1115568" cy="804672"/>
          </a:xfrm>
          <a:prstGeom prst="rect">
            <a:avLst/>
          </a:prstGeom>
          <a:solidFill>
            <a:srgbClr val="161B22"/>
          </a:solidFill>
          <a:ln w="25400">
            <a:solidFill>
              <a:srgbClr val="7B2F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45736" y="658368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Tokens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Linear Proj 768→512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45736" y="1078992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 197, 512)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861304" y="1042416"/>
            <a:ext cx="73152" cy="0"/>
          </a:xfrm>
          <a:prstGeom prst="line">
            <a:avLst/>
          </a:prstGeom>
          <a:noFill/>
          <a:ln w="19050">
            <a:solidFill>
              <a:srgbClr val="7B2FB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97880" y="640080"/>
            <a:ext cx="1115568" cy="804672"/>
          </a:xfrm>
          <a:prstGeom prst="rect">
            <a:avLst/>
          </a:prstGeom>
          <a:solidFill>
            <a:srgbClr val="161B22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658368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Decoder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layers, d=512, h=16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1078992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 197, 512)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013448" y="1042416"/>
            <a:ext cx="73152" cy="0"/>
          </a:xfrm>
          <a:prstGeom prst="line">
            <a:avLst/>
          </a:prstGeom>
          <a:noFill/>
          <a:ln w="19050">
            <a:solidFill>
              <a:srgbClr val="2A9D8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50024" y="640080"/>
            <a:ext cx="1115568" cy="804672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50024" y="658368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Head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Linear(512→256)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050024" y="1078992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 196, 256)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pixels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37160" y="1572768"/>
            <a:ext cx="2898648" cy="301752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32" name="Text 30"/>
          <p:cNvSpPr/>
          <p:nvPr/>
        </p:nvSpPr>
        <p:spPr>
          <a:xfrm>
            <a:off x="182880" y="1591056"/>
            <a:ext cx="28072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Details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37160" y="1883664"/>
            <a:ext cx="2898648" cy="28346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34" name="Text 32"/>
          <p:cNvSpPr/>
          <p:nvPr/>
        </p:nvSpPr>
        <p:spPr>
          <a:xfrm>
            <a:off x="182880" y="18928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435608" y="18928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37160" y="2176272"/>
            <a:ext cx="2898648" cy="283464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7" name="Text 35"/>
          <p:cNvSpPr/>
          <p:nvPr/>
        </p:nvSpPr>
        <p:spPr>
          <a:xfrm>
            <a:off x="182880" y="218541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size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435608" y="21854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× 16 pixels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37160" y="2468880"/>
            <a:ext cx="2898648" cy="28346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0" name="Text 38"/>
          <p:cNvSpPr/>
          <p:nvPr/>
        </p:nvSpPr>
        <p:spPr>
          <a:xfrm>
            <a:off x="182880" y="247802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patches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435608" y="247802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 (14×14 grid)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37160" y="2761488"/>
            <a:ext cx="2898648" cy="283464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43" name="Text 41"/>
          <p:cNvSpPr/>
          <p:nvPr/>
        </p:nvSpPr>
        <p:spPr>
          <a:xfrm>
            <a:off x="182880" y="27706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dim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435608" y="27706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37160" y="3054096"/>
            <a:ext cx="2898648" cy="28346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6" name="Text 44"/>
          <p:cNvSpPr/>
          <p:nvPr/>
        </p:nvSpPr>
        <p:spPr>
          <a:xfrm>
            <a:off x="182880" y="30632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435608" y="30632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layers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137160" y="3346704"/>
            <a:ext cx="2898648" cy="283464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49" name="Text 47"/>
          <p:cNvSpPr/>
          <p:nvPr/>
        </p:nvSpPr>
        <p:spPr>
          <a:xfrm>
            <a:off x="182880" y="33558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1435608" y="33558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attention heads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137160" y="3639312"/>
            <a:ext cx="2898648" cy="28346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2" name="Text 50"/>
          <p:cNvSpPr/>
          <p:nvPr/>
        </p:nvSpPr>
        <p:spPr>
          <a:xfrm>
            <a:off x="182880" y="364845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FFN dim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1435608" y="36484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3072 (768 × 4)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137160" y="3931920"/>
            <a:ext cx="2898648" cy="283464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55" name="Text 53"/>
          <p:cNvSpPr/>
          <p:nvPr/>
        </p:nvSpPr>
        <p:spPr>
          <a:xfrm>
            <a:off x="182880" y="394106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embed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1435608" y="394106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sinusoidal (fixed)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137160" y="4224528"/>
            <a:ext cx="2898648" cy="28346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8" name="Text 56"/>
          <p:cNvSpPr/>
          <p:nvPr/>
        </p:nvSpPr>
        <p:spPr>
          <a:xfrm>
            <a:off x="182880" y="423367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CLS token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1435608" y="42336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Learnable (1, 1, 768)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127248" y="1572768"/>
            <a:ext cx="2898648" cy="30175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1" name="Text 59"/>
          <p:cNvSpPr/>
          <p:nvPr/>
        </p:nvSpPr>
        <p:spPr>
          <a:xfrm>
            <a:off x="3172968" y="1591056"/>
            <a:ext cx="28072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Details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3127248" y="1883664"/>
            <a:ext cx="2898648" cy="28346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63" name="Text 61"/>
          <p:cNvSpPr/>
          <p:nvPr/>
        </p:nvSpPr>
        <p:spPr>
          <a:xfrm>
            <a:off x="3172968" y="18928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4425696" y="18928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127248" y="2176272"/>
            <a:ext cx="2898648" cy="283464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66" name="Text 64"/>
          <p:cNvSpPr/>
          <p:nvPr/>
        </p:nvSpPr>
        <p:spPr>
          <a:xfrm>
            <a:off x="3172968" y="218541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projection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4425696" y="21854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768 → 512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3127248" y="2468880"/>
            <a:ext cx="2898648" cy="28346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9" name="Text 67"/>
          <p:cNvSpPr/>
          <p:nvPr/>
        </p:nvSpPr>
        <p:spPr>
          <a:xfrm>
            <a:off x="3172968" y="247802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token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4425696" y="247802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Learnable (1, 1, 512)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3127248" y="2761488"/>
            <a:ext cx="2898648" cy="283464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72" name="Text 70"/>
          <p:cNvSpPr/>
          <p:nvPr/>
        </p:nvSpPr>
        <p:spPr>
          <a:xfrm>
            <a:off x="3172968" y="27706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dim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4425696" y="27706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3127248" y="3054096"/>
            <a:ext cx="2898648" cy="28346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5" name="Text 73"/>
          <p:cNvSpPr/>
          <p:nvPr/>
        </p:nvSpPr>
        <p:spPr>
          <a:xfrm>
            <a:off x="3172968" y="30632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4425696" y="30632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layers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3127248" y="3346704"/>
            <a:ext cx="2898648" cy="283464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78" name="Text 76"/>
          <p:cNvSpPr/>
          <p:nvPr/>
        </p:nvSpPr>
        <p:spPr>
          <a:xfrm>
            <a:off x="3172968" y="33558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4425696" y="33558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attention heads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3127248" y="3639312"/>
            <a:ext cx="2898648" cy="28346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1" name="Text 79"/>
          <p:cNvSpPr/>
          <p:nvPr/>
        </p:nvSpPr>
        <p:spPr>
          <a:xfrm>
            <a:off x="3172968" y="364845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head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4425696" y="36484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512 → 256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3127248" y="3931920"/>
            <a:ext cx="2898648" cy="283464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84" name="Text 82"/>
          <p:cNvSpPr/>
          <p:nvPr/>
        </p:nvSpPr>
        <p:spPr>
          <a:xfrm>
            <a:off x="3172968" y="394106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per patch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4425696" y="394106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16×16×1 = 256 pixels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3127248" y="4224528"/>
            <a:ext cx="2898648" cy="28346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7" name="Text 85"/>
          <p:cNvSpPr/>
          <p:nvPr/>
        </p:nvSpPr>
        <p:spPr>
          <a:xfrm>
            <a:off x="3172968" y="423367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950" dirty="0"/>
          </a:p>
        </p:txBody>
      </p:sp>
      <p:sp>
        <p:nvSpPr>
          <p:cNvPr id="88" name="Text 86"/>
          <p:cNvSpPr/>
          <p:nvPr/>
        </p:nvSpPr>
        <p:spPr>
          <a:xfrm>
            <a:off x="4425696" y="42336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on masked patches only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6117336" y="1572768"/>
            <a:ext cx="2898648" cy="301752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90" name="Text 88"/>
          <p:cNvSpPr/>
          <p:nvPr/>
        </p:nvSpPr>
        <p:spPr>
          <a:xfrm>
            <a:off x="6163056" y="1591056"/>
            <a:ext cx="28072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Masking Strategy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6117336" y="1883664"/>
            <a:ext cx="2898648" cy="28346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92" name="Text 90"/>
          <p:cNvSpPr/>
          <p:nvPr/>
        </p:nvSpPr>
        <p:spPr>
          <a:xfrm>
            <a:off x="6163056" y="18928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7415784" y="18928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6117336" y="2176272"/>
            <a:ext cx="2898648" cy="283464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95" name="Text 93"/>
          <p:cNvSpPr/>
          <p:nvPr/>
        </p:nvSpPr>
        <p:spPr>
          <a:xfrm>
            <a:off x="6163056" y="218541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ratio</a:t>
            </a:r>
            <a:endParaRPr lang="en-US" sz="950" dirty="0"/>
          </a:p>
        </p:txBody>
      </p:sp>
      <p:sp>
        <p:nvSpPr>
          <p:cNvPr id="96" name="Text 94"/>
          <p:cNvSpPr/>
          <p:nvPr/>
        </p:nvSpPr>
        <p:spPr>
          <a:xfrm>
            <a:off x="7415784" y="218541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(147/196 patches)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6117336" y="2468880"/>
            <a:ext cx="2898648" cy="28346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8" name="Text 96"/>
          <p:cNvSpPr/>
          <p:nvPr/>
        </p:nvSpPr>
        <p:spPr>
          <a:xfrm>
            <a:off x="6163056" y="247802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patches</a:t>
            </a:r>
            <a:endParaRPr lang="en-US" sz="950" dirty="0"/>
          </a:p>
        </p:txBody>
      </p:sp>
      <p:sp>
        <p:nvSpPr>
          <p:cNvPr id="99" name="Text 97"/>
          <p:cNvSpPr/>
          <p:nvPr/>
        </p:nvSpPr>
        <p:spPr>
          <a:xfrm>
            <a:off x="7415784" y="247802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(25%)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6117336" y="2761488"/>
            <a:ext cx="2898648" cy="283464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01" name="Text 99"/>
          <p:cNvSpPr/>
          <p:nvPr/>
        </p:nvSpPr>
        <p:spPr>
          <a:xfrm>
            <a:off x="6163056" y="27706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Masking method</a:t>
            </a:r>
            <a:endParaRPr lang="en-US" sz="950" dirty="0"/>
          </a:p>
        </p:txBody>
      </p:sp>
      <p:sp>
        <p:nvSpPr>
          <p:cNvPr id="102" name="Text 100"/>
          <p:cNvSpPr/>
          <p:nvPr/>
        </p:nvSpPr>
        <p:spPr>
          <a:xfrm>
            <a:off x="7415784" y="27706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(noise-based)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6117336" y="3054096"/>
            <a:ext cx="2898648" cy="28346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4" name="Text 102"/>
          <p:cNvSpPr/>
          <p:nvPr/>
        </p:nvSpPr>
        <p:spPr>
          <a:xfrm>
            <a:off x="6163056" y="30632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norm</a:t>
            </a:r>
            <a:endParaRPr lang="en-US" sz="950" dirty="0"/>
          </a:p>
        </p:txBody>
      </p:sp>
      <p:sp>
        <p:nvSpPr>
          <p:cNvPr id="105" name="Text 103"/>
          <p:cNvSpPr/>
          <p:nvPr/>
        </p:nvSpPr>
        <p:spPr>
          <a:xfrm>
            <a:off x="7415784" y="30632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Per-patch mean/std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6117336" y="3346704"/>
            <a:ext cx="2898648" cy="283464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07" name="Text 105"/>
          <p:cNvSpPr/>
          <p:nvPr/>
        </p:nvSpPr>
        <p:spPr>
          <a:xfrm>
            <a:off x="6163056" y="33558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compute</a:t>
            </a:r>
            <a:endParaRPr lang="en-US" sz="950" dirty="0"/>
          </a:p>
        </p:txBody>
      </p:sp>
      <p:sp>
        <p:nvSpPr>
          <p:cNvPr id="108" name="Text 106"/>
          <p:cNvSpPr/>
          <p:nvPr/>
        </p:nvSpPr>
        <p:spPr>
          <a:xfrm>
            <a:off x="7415784" y="33558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patches only</a:t>
            </a:r>
            <a:endParaRPr lang="en-US" sz="950" dirty="0"/>
          </a:p>
        </p:txBody>
      </p:sp>
      <p:sp>
        <p:nvSpPr>
          <p:cNvPr id="109" name="Shape 107"/>
          <p:cNvSpPr/>
          <p:nvPr/>
        </p:nvSpPr>
        <p:spPr>
          <a:xfrm>
            <a:off x="6117336" y="3639312"/>
            <a:ext cx="2898648" cy="28346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0" name="Text 108"/>
          <p:cNvSpPr/>
          <p:nvPr/>
        </p:nvSpPr>
        <p:spPr>
          <a:xfrm>
            <a:off x="6163056" y="364845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ids_restore</a:t>
            </a:r>
            <a:endParaRPr lang="en-US" sz="950" dirty="0"/>
          </a:p>
        </p:txBody>
      </p:sp>
      <p:sp>
        <p:nvSpPr>
          <p:cNvPr id="111" name="Text 109"/>
          <p:cNvSpPr/>
          <p:nvPr/>
        </p:nvSpPr>
        <p:spPr>
          <a:xfrm>
            <a:off x="7415784" y="36484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Argsort of sort order</a:t>
            </a:r>
            <a:endParaRPr lang="en-US" sz="950" dirty="0"/>
          </a:p>
        </p:txBody>
      </p:sp>
      <p:sp>
        <p:nvSpPr>
          <p:cNvPr id="112" name="Shape 110"/>
          <p:cNvSpPr/>
          <p:nvPr/>
        </p:nvSpPr>
        <p:spPr>
          <a:xfrm>
            <a:off x="6117336" y="3931920"/>
            <a:ext cx="2898648" cy="283464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13" name="Text 111"/>
          <p:cNvSpPr/>
          <p:nvPr/>
        </p:nvSpPr>
        <p:spPr>
          <a:xfrm>
            <a:off x="6163056" y="394106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token</a:t>
            </a:r>
            <a:endParaRPr lang="en-US" sz="950" dirty="0"/>
          </a:p>
        </p:txBody>
      </p:sp>
      <p:sp>
        <p:nvSpPr>
          <p:cNvPr id="114" name="Text 112"/>
          <p:cNvSpPr/>
          <p:nvPr/>
        </p:nvSpPr>
        <p:spPr>
          <a:xfrm>
            <a:off x="7415784" y="394106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Learnable, broadcast</a:t>
            </a:r>
            <a:endParaRPr lang="en-US" sz="950" dirty="0"/>
          </a:p>
        </p:txBody>
      </p:sp>
      <p:sp>
        <p:nvSpPr>
          <p:cNvPr id="115" name="Shape 113"/>
          <p:cNvSpPr/>
          <p:nvPr/>
        </p:nvSpPr>
        <p:spPr>
          <a:xfrm>
            <a:off x="6117336" y="4224528"/>
            <a:ext cx="2898648" cy="28346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6" name="Text 114"/>
          <p:cNvSpPr/>
          <p:nvPr/>
        </p:nvSpPr>
        <p:spPr>
          <a:xfrm>
            <a:off x="6163056" y="423367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950" dirty="0"/>
          </a:p>
        </p:txBody>
      </p:sp>
      <p:sp>
        <p:nvSpPr>
          <p:cNvPr id="117" name="Text 115"/>
          <p:cNvSpPr/>
          <p:nvPr/>
        </p:nvSpPr>
        <p:spPr>
          <a:xfrm>
            <a:off x="7415784" y="42336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O(N_visible²) encoder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ResUNet Architecture — ResNet34 Encoder + U-Net Decoder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37160" y="594360"/>
            <a:ext cx="2286000" cy="29260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6126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(ResNet34)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7160" y="932688"/>
            <a:ext cx="2286000" cy="621792"/>
          </a:xfrm>
          <a:prstGeom prst="rect">
            <a:avLst/>
          </a:prstGeom>
          <a:solidFill>
            <a:srgbClr val="161B22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95097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" y="129844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 1, 224, 224)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22960" y="1563624"/>
            <a:ext cx="0" cy="36576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" y="1600200"/>
            <a:ext cx="2286000" cy="621792"/>
          </a:xfrm>
          <a:prstGeom prst="rect">
            <a:avLst/>
          </a:prstGeom>
          <a:solidFill>
            <a:srgbClr val="161B22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161848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 Conv(1→64, 7×7, s=2)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+BN+ReLU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2880" y="196596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 64, 112, 112)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22960" y="2231136"/>
            <a:ext cx="0" cy="36576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" y="2267712"/>
            <a:ext cx="2286000" cy="621792"/>
          </a:xfrm>
          <a:prstGeom prst="rect">
            <a:avLst/>
          </a:prstGeom>
          <a:solidFill>
            <a:srgbClr val="161B22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" y="22860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 2×2 + Layer1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3×BasicBlock(64→64)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2880" y="26334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 64, 56, 56)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22960" y="2898648"/>
            <a:ext cx="0" cy="36576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2935224"/>
            <a:ext cx="2286000" cy="621792"/>
          </a:xfrm>
          <a:prstGeom prst="rect">
            <a:avLst/>
          </a:prstGeom>
          <a:solidFill>
            <a:srgbClr val="161B22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" y="295351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4×BasicBlock(64→128, s=2)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2880" y="330098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 128, 28, 28)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22960" y="3566160"/>
            <a:ext cx="0" cy="36576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7160" y="3602736"/>
            <a:ext cx="2286000" cy="621792"/>
          </a:xfrm>
          <a:prstGeom prst="rect">
            <a:avLst/>
          </a:prstGeom>
          <a:solidFill>
            <a:srgbClr val="161B22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" y="362102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6×BasicBlock(128→256, s=2)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82880" y="396849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 256, 14, 14)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22960" y="4233672"/>
            <a:ext cx="0" cy="36576"/>
          </a:xfrm>
          <a:prstGeom prst="line">
            <a:avLst/>
          </a:prstGeom>
          <a:noFill/>
          <a:ln w="12700">
            <a:solidFill>
              <a:srgbClr val="2A9D8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7160" y="4270248"/>
            <a:ext cx="2286000" cy="621792"/>
          </a:xfrm>
          <a:prstGeom prst="rect">
            <a:avLst/>
          </a:prstGeom>
          <a:solidFill>
            <a:srgbClr val="161B22"/>
          </a:solidFill>
          <a:ln w="19050">
            <a:solidFill>
              <a:srgbClr val="E848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" y="428853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Layer4 — Bottleneck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3×BasicBlock(256→512, s=2)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82880" y="463600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 512, 7, 7)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429000" y="594360"/>
            <a:ext cx="2286000" cy="292608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30" name="Text 28"/>
          <p:cNvSpPr/>
          <p:nvPr/>
        </p:nvSpPr>
        <p:spPr>
          <a:xfrm>
            <a:off x="3474720" y="6126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(U-Net style)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29000" y="932688"/>
            <a:ext cx="2286000" cy="621792"/>
          </a:xfrm>
          <a:prstGeom prst="rect">
            <a:avLst/>
          </a:prstGeom>
          <a:solidFill>
            <a:srgbClr val="161B22"/>
          </a:solidFill>
          <a:ln w="19050">
            <a:solidFill>
              <a:srgbClr val="7B2FB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0" y="95097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Dec4 — TransConv2d(512→256)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+cat(skip s3) → 2×ConvBnReLU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474720" y="129844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 256, 14, 14)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114800" y="1563624"/>
            <a:ext cx="0" cy="36576"/>
          </a:xfrm>
          <a:prstGeom prst="line">
            <a:avLst/>
          </a:prstGeom>
          <a:noFill/>
          <a:ln w="12700">
            <a:solidFill>
              <a:srgbClr val="7B2FB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29000" y="1600200"/>
            <a:ext cx="2286000" cy="621792"/>
          </a:xfrm>
          <a:prstGeom prst="rect">
            <a:avLst/>
          </a:prstGeom>
          <a:solidFill>
            <a:srgbClr val="161B22"/>
          </a:solidFill>
          <a:ln w="19050">
            <a:solidFill>
              <a:srgbClr val="7B2FB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0" y="161848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Dec3 — TransConv2d(256→128)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+cat(skip s2) → 2×ConvBnReLU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474720" y="196596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 128, 28, 28)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114800" y="2231136"/>
            <a:ext cx="0" cy="36576"/>
          </a:xfrm>
          <a:prstGeom prst="line">
            <a:avLst/>
          </a:prstGeom>
          <a:noFill/>
          <a:ln w="12700">
            <a:solidFill>
              <a:srgbClr val="7B2FB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29000" y="2267712"/>
            <a:ext cx="2286000" cy="621792"/>
          </a:xfrm>
          <a:prstGeom prst="rect">
            <a:avLst/>
          </a:prstGeom>
          <a:solidFill>
            <a:srgbClr val="161B22"/>
          </a:solidFill>
          <a:ln w="19050">
            <a:solidFill>
              <a:srgbClr val="7B2FB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0" y="22860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Dec2 — TransConv2d(128→64)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+cat(skip s1) → 2×ConvBnReLU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474720" y="26334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 64, 56, 56)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114800" y="2898648"/>
            <a:ext cx="0" cy="36576"/>
          </a:xfrm>
          <a:prstGeom prst="line">
            <a:avLst/>
          </a:prstGeom>
          <a:noFill/>
          <a:ln w="12700">
            <a:solidFill>
              <a:srgbClr val="7B2FB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429000" y="2935224"/>
            <a:ext cx="2286000" cy="621792"/>
          </a:xfrm>
          <a:prstGeom prst="rect">
            <a:avLst/>
          </a:prstGeom>
          <a:solidFill>
            <a:srgbClr val="161B22"/>
          </a:solidFill>
          <a:ln w="19050">
            <a:solidFill>
              <a:srgbClr val="7B2FB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74720" y="295351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Dec1 — TransConv2d(64→32)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+cat(skip s0) → 2×ConvBnReLU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474720" y="330098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 32, 112, 112)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114800" y="3566160"/>
            <a:ext cx="0" cy="36576"/>
          </a:xfrm>
          <a:prstGeom prst="line">
            <a:avLst/>
          </a:prstGeom>
          <a:noFill/>
          <a:ln w="12700">
            <a:solidFill>
              <a:srgbClr val="7B2FB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429000" y="3602736"/>
            <a:ext cx="2286000" cy="621792"/>
          </a:xfrm>
          <a:prstGeom prst="rect">
            <a:avLst/>
          </a:prstGeom>
          <a:solidFill>
            <a:srgbClr val="161B22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74720" y="362102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Up — TransConv2d(32→16)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+ConvBnReLU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474720" y="396849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 16, 224, 224)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114800" y="4233672"/>
            <a:ext cx="0" cy="36576"/>
          </a:xfrm>
          <a:prstGeom prst="line">
            <a:avLst/>
          </a:prstGeom>
          <a:noFill/>
          <a:ln w="12700">
            <a:solidFill>
              <a:srgbClr val="F4A26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29000" y="4270248"/>
            <a:ext cx="2286000" cy="621792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74720" y="428853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— Conv1×1(16→4)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474720" y="463600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 4, 224, 224)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4-class logits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423160" y="1234440"/>
            <a:ext cx="1005840" cy="0"/>
          </a:xfrm>
          <a:prstGeom prst="line">
            <a:avLst/>
          </a:prstGeom>
          <a:noFill/>
          <a:ln w="19050">
            <a:solidFill>
              <a:srgbClr val="D29922"/>
            </a:solidFill>
            <a:prstDash val="dash"/>
          </a:ln>
        </p:spPr>
      </p:sp>
      <p:sp>
        <p:nvSpPr>
          <p:cNvPr id="55" name="Text 53"/>
          <p:cNvSpPr/>
          <p:nvPr/>
        </p:nvSpPr>
        <p:spPr>
          <a:xfrm>
            <a:off x="2450592" y="107899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→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2423160" y="1901952"/>
            <a:ext cx="1005840" cy="0"/>
          </a:xfrm>
          <a:prstGeom prst="line">
            <a:avLst/>
          </a:prstGeom>
          <a:noFill/>
          <a:ln w="19050">
            <a:solidFill>
              <a:srgbClr val="D29922"/>
            </a:solidFill>
            <a:prstDash val="dash"/>
          </a:ln>
        </p:spPr>
      </p:sp>
      <p:sp>
        <p:nvSpPr>
          <p:cNvPr id="57" name="Text 55"/>
          <p:cNvSpPr/>
          <p:nvPr/>
        </p:nvSpPr>
        <p:spPr>
          <a:xfrm>
            <a:off x="2450592" y="174650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→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2423160" y="2569464"/>
            <a:ext cx="1005840" cy="0"/>
          </a:xfrm>
          <a:prstGeom prst="line">
            <a:avLst/>
          </a:prstGeom>
          <a:noFill/>
          <a:ln w="19050">
            <a:solidFill>
              <a:srgbClr val="D29922"/>
            </a:solidFill>
            <a:prstDash val="dash"/>
          </a:ln>
        </p:spPr>
      </p:sp>
      <p:sp>
        <p:nvSpPr>
          <p:cNvPr id="59" name="Text 57"/>
          <p:cNvSpPr/>
          <p:nvPr/>
        </p:nvSpPr>
        <p:spPr>
          <a:xfrm>
            <a:off x="2450592" y="241401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→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423160" y="3236976"/>
            <a:ext cx="1005840" cy="0"/>
          </a:xfrm>
          <a:prstGeom prst="line">
            <a:avLst/>
          </a:prstGeom>
          <a:noFill/>
          <a:ln w="19050">
            <a:solidFill>
              <a:srgbClr val="D29922"/>
            </a:solidFill>
            <a:prstDash val="dash"/>
          </a:ln>
        </p:spPr>
      </p:sp>
      <p:sp>
        <p:nvSpPr>
          <p:cNvPr id="61" name="Text 59"/>
          <p:cNvSpPr/>
          <p:nvPr/>
        </p:nvSpPr>
        <p:spPr>
          <a:xfrm>
            <a:off x="2450592" y="3081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→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6675120" y="594360"/>
            <a:ext cx="2331720" cy="2926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63" name="Text 61"/>
          <p:cNvSpPr/>
          <p:nvPr/>
        </p:nvSpPr>
        <p:spPr>
          <a:xfrm>
            <a:off x="6720840" y="6126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Choices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675120" y="932688"/>
            <a:ext cx="233172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720840" y="95097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1-ch Adaptation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6720840" y="117043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conv weights averaged across RGB channels, divided by in_chans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675120" y="1600200"/>
            <a:ext cx="233172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720840" y="161848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Diff. LR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720840" y="183794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LR = base × 0.5, Decoder LR = base (protects pretrained features)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6675120" y="2267712"/>
            <a:ext cx="233172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720840" y="228600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OneCycleLR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6720840" y="250545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warmup → cosine decay. Faster convergence than plain cosine.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6675120" y="2935224"/>
            <a:ext cx="233172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720840" y="295351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DiceCE Loss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6720840" y="317296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(0.5×) + Cross-Entropy (0.5×) with class weights and label smoothing 0.05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6675120" y="3602736"/>
            <a:ext cx="233172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720840" y="362102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6720840" y="384048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precision (fp16) on CUDA, ~2× faster training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6675120" y="4270248"/>
            <a:ext cx="233172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720840" y="428853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Weights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6720840" y="450799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Inverse-frequency from 500 random masks. Upweights NCR, ED, ET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U-Net Architecture — Trained from Scratch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594360"/>
            <a:ext cx="1828800" cy="2926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6126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914400"/>
            <a:ext cx="1828800" cy="621792"/>
          </a:xfrm>
          <a:prstGeom prst="rect">
            <a:avLst/>
          </a:prstGeom>
          <a:solidFill>
            <a:srgbClr val="161B22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3268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" y="12801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 1, 224, 224)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2880" y="1581912"/>
            <a:ext cx="1828800" cy="621792"/>
          </a:xfrm>
          <a:prstGeom prst="rect">
            <a:avLst/>
          </a:prstGeom>
          <a:solidFill>
            <a:srgbClr val="161B22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6002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Enc1: 1→32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2×(Conv3×3+BN+ReLU)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" y="194767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 32, 224, 224)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82880" y="2249424"/>
            <a:ext cx="1828800" cy="621792"/>
          </a:xfrm>
          <a:prstGeom prst="rect">
            <a:avLst/>
          </a:prstGeom>
          <a:solidFill>
            <a:srgbClr val="161B22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226771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 + Enc2: 32→64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" y="261518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 64, 112, 112)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82880" y="2916936"/>
            <a:ext cx="1828800" cy="621792"/>
          </a:xfrm>
          <a:prstGeom prst="rect">
            <a:avLst/>
          </a:prstGeom>
          <a:solidFill>
            <a:srgbClr val="161B22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293522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 + Enc3: 64→128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" y="328269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 128, 56, 56)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82880" y="3584448"/>
            <a:ext cx="1828800" cy="621792"/>
          </a:xfrm>
          <a:prstGeom prst="rect">
            <a:avLst/>
          </a:prstGeom>
          <a:solidFill>
            <a:srgbClr val="161B22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360273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 + Enc4: 128→256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" y="395020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 256, 28, 28)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82880" y="4251960"/>
            <a:ext cx="1828800" cy="621792"/>
          </a:xfrm>
          <a:prstGeom prst="rect">
            <a:avLst/>
          </a:prstGeom>
          <a:solidFill>
            <a:srgbClr val="161B22"/>
          </a:solidFill>
          <a:ln w="19050">
            <a:solidFill>
              <a:srgbClr val="E848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427024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 + Bottleneck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256→512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" y="46177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 512, 14, 14)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383280" y="594360"/>
            <a:ext cx="1828800" cy="29260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5" name="Text 23"/>
          <p:cNvSpPr/>
          <p:nvPr/>
        </p:nvSpPr>
        <p:spPr>
          <a:xfrm>
            <a:off x="3429000" y="6126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83280" y="914400"/>
            <a:ext cx="1828800" cy="621792"/>
          </a:xfrm>
          <a:prstGeom prst="rect">
            <a:avLst/>
          </a:prstGeom>
          <a:solidFill>
            <a:srgbClr val="161B22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9000" y="93268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Up4 TransConv(512→256)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+cat s4 → Dec4(512→256)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29000" y="12801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 256, 28, 28)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383280" y="1581912"/>
            <a:ext cx="1828800" cy="621792"/>
          </a:xfrm>
          <a:prstGeom prst="rect">
            <a:avLst/>
          </a:prstGeom>
          <a:solidFill>
            <a:srgbClr val="161B22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29000" y="16002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Up3 TransConv(256→128)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+cat s3 → Dec3(256→128)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429000" y="194767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 128, 56, 56)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383280" y="2249424"/>
            <a:ext cx="1828800" cy="621792"/>
          </a:xfrm>
          <a:prstGeom prst="rect">
            <a:avLst/>
          </a:prstGeom>
          <a:solidFill>
            <a:srgbClr val="161B22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29000" y="226771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Up2 TransConv(128→64)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+cat s2 → Dec2(128→64)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429000" y="261518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 64, 112, 112)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383280" y="2916936"/>
            <a:ext cx="1828800" cy="621792"/>
          </a:xfrm>
          <a:prstGeom prst="rect">
            <a:avLst/>
          </a:prstGeom>
          <a:solidFill>
            <a:srgbClr val="161B22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29000" y="293522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Up1 TransConv(64→32)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+cat s1 → Dec1(64→32)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429000" y="328269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 32, 224, 224)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383280" y="3584448"/>
            <a:ext cx="1828800" cy="621792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29000" y="360273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Conv1×1(32→4)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429000" y="395020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 4, 224, 224)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4-class logits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011680" y="1234440"/>
            <a:ext cx="1371600" cy="0"/>
          </a:xfrm>
          <a:prstGeom prst="line">
            <a:avLst/>
          </a:prstGeom>
          <a:noFill/>
          <a:ln w="19050">
            <a:solidFill>
              <a:srgbClr val="D29922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2029968" y="10789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skip →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2011680" y="1901952"/>
            <a:ext cx="1371600" cy="0"/>
          </a:xfrm>
          <a:prstGeom prst="line">
            <a:avLst/>
          </a:prstGeom>
          <a:noFill/>
          <a:ln w="19050">
            <a:solidFill>
              <a:srgbClr val="D29922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2029968" y="174650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skip →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011680" y="2569464"/>
            <a:ext cx="1371600" cy="0"/>
          </a:xfrm>
          <a:prstGeom prst="line">
            <a:avLst/>
          </a:prstGeom>
          <a:noFill/>
          <a:ln w="19050">
            <a:solidFill>
              <a:srgbClr val="D29922"/>
            </a:solidFill>
            <a:prstDash val="dash"/>
          </a:ln>
        </p:spPr>
      </p:sp>
      <p:sp>
        <p:nvSpPr>
          <p:cNvPr id="46" name="Text 44"/>
          <p:cNvSpPr/>
          <p:nvPr/>
        </p:nvSpPr>
        <p:spPr>
          <a:xfrm>
            <a:off x="2029968" y="241401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skip →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011680" y="3236976"/>
            <a:ext cx="1371600" cy="0"/>
          </a:xfrm>
          <a:prstGeom prst="line">
            <a:avLst/>
          </a:prstGeom>
          <a:noFill/>
          <a:ln w="19050">
            <a:solidFill>
              <a:srgbClr val="D29922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2029968" y="308152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skip →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5760720" y="594360"/>
            <a:ext cx="3200400" cy="292608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50" name="Text 48"/>
          <p:cNvSpPr/>
          <p:nvPr/>
        </p:nvSpPr>
        <p:spPr>
          <a:xfrm>
            <a:off x="5806440" y="6126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vs ResUNet — Comparison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760720" y="914400"/>
            <a:ext cx="3200400" cy="32918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52" name="Text 50"/>
          <p:cNvSpPr/>
          <p:nvPr/>
        </p:nvSpPr>
        <p:spPr>
          <a:xfrm>
            <a:off x="5806440" y="92354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739128" y="92354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7763256" y="92354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ResUNet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760720" y="1252728"/>
            <a:ext cx="3200400" cy="329184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56" name="Text 54"/>
          <p:cNvSpPr/>
          <p:nvPr/>
        </p:nvSpPr>
        <p:spPr>
          <a:xfrm>
            <a:off x="5806440" y="12618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739128" y="126187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blocks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7763256" y="126187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ResNet34 pretrained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760720" y="1591056"/>
            <a:ext cx="3200400" cy="32918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0" name="Text 58"/>
          <p:cNvSpPr/>
          <p:nvPr/>
        </p:nvSpPr>
        <p:spPr>
          <a:xfrm>
            <a:off x="5806440" y="1600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739128" y="16002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(scratch)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7763256" y="160020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weights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5760720" y="1929384"/>
            <a:ext cx="3200400" cy="329184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64" name="Text 62"/>
          <p:cNvSpPr/>
          <p:nvPr/>
        </p:nvSpPr>
        <p:spPr>
          <a:xfrm>
            <a:off x="5806440" y="19385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6739128" y="19385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~7.7M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7763256" y="193852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~21.8M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5760720" y="2267712"/>
            <a:ext cx="3200400" cy="32918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8" name="Text 66"/>
          <p:cNvSpPr/>
          <p:nvPr/>
        </p:nvSpPr>
        <p:spPr>
          <a:xfrm>
            <a:off x="5806440" y="227685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depth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6739128" y="227685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stages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7763256" y="2276856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stages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5760720" y="2606040"/>
            <a:ext cx="3200400" cy="329184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72" name="Text 70"/>
          <p:cNvSpPr/>
          <p:nvPr/>
        </p:nvSpPr>
        <p:spPr>
          <a:xfrm>
            <a:off x="5806440" y="261518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 block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6739128" y="261518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2×Conv3+BN+ReLU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7763256" y="261518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BasicBlock (residual)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5760720" y="2944368"/>
            <a:ext cx="3200400" cy="32918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6" name="Text 74"/>
          <p:cNvSpPr/>
          <p:nvPr/>
        </p:nvSpPr>
        <p:spPr>
          <a:xfrm>
            <a:off x="5806440" y="29535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6739128" y="29535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UpConv + skip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7763256" y="295351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UpConv + skip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5760720" y="3282696"/>
            <a:ext cx="3200400" cy="329184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80" name="Text 78"/>
          <p:cNvSpPr/>
          <p:nvPr/>
        </p:nvSpPr>
        <p:spPr>
          <a:xfrm>
            <a:off x="5806440" y="32918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channels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6739128" y="3291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32/64/128/256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7763256" y="329184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64/64/128/256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5760720" y="3621024"/>
            <a:ext cx="3200400" cy="32918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4" name="Text 82"/>
          <p:cNvSpPr/>
          <p:nvPr/>
        </p:nvSpPr>
        <p:spPr>
          <a:xfrm>
            <a:off x="5806440" y="36301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ch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6739128" y="36301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7763256" y="363016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5760720" y="3959352"/>
            <a:ext cx="3200400" cy="329184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88" name="Text 86"/>
          <p:cNvSpPr/>
          <p:nvPr/>
        </p:nvSpPr>
        <p:spPr>
          <a:xfrm>
            <a:off x="5806440" y="396849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1-ch support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6739128" y="396849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7763256" y="3968496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averaging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5760720" y="4297680"/>
            <a:ext cx="3200400" cy="32918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2" name="Text 90"/>
          <p:cNvSpPr/>
          <p:nvPr/>
        </p:nvSpPr>
        <p:spPr>
          <a:xfrm>
            <a:off x="5806440" y="430682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6739128" y="43068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simple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7763256" y="430682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Details — MAE Pretraining &amp; ResUNet Fine-Tuning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594360"/>
            <a:ext cx="4160520" cy="292608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61264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MAE Pretraining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914400"/>
            <a:ext cx="4160520" cy="25603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92354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810512" y="923544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(β₁=0.9, β₂=0.95)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2880" y="1179576"/>
            <a:ext cx="4160520" cy="25603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" y="11887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810512" y="1188720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× 10⁻⁴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2880" y="1444752"/>
            <a:ext cx="4160520" cy="25603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" y="145389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decay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810512" y="1453896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82880" y="1709928"/>
            <a:ext cx="4160520" cy="25603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6" name="Text 14"/>
          <p:cNvSpPr/>
          <p:nvPr/>
        </p:nvSpPr>
        <p:spPr>
          <a:xfrm>
            <a:off x="228600" y="171907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810512" y="1719072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with linear warmup (5 epochs)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82880" y="1975104"/>
            <a:ext cx="4160520" cy="25603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9" name="Text 17"/>
          <p:cNvSpPr/>
          <p:nvPr/>
        </p:nvSpPr>
        <p:spPr>
          <a:xfrm>
            <a:off x="228600" y="198424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810512" y="1984248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(demo: 32)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82880" y="2240280"/>
            <a:ext cx="4160520" cy="25603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2" name="Text 20"/>
          <p:cNvSpPr/>
          <p:nvPr/>
        </p:nvSpPr>
        <p:spPr>
          <a:xfrm>
            <a:off x="228600" y="224942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810512" y="2249424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on masked patches only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82880" y="2505456"/>
            <a:ext cx="4160520" cy="25603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5" name="Text 23"/>
          <p:cNvSpPr/>
          <p:nvPr/>
        </p:nvSpPr>
        <p:spPr>
          <a:xfrm>
            <a:off x="228600" y="25146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norm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810512" y="2514600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Per-patch (mean/std)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82880" y="2770632"/>
            <a:ext cx="4160520" cy="25603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8" name="Text 26"/>
          <p:cNvSpPr/>
          <p:nvPr/>
        </p:nvSpPr>
        <p:spPr>
          <a:xfrm>
            <a:off x="228600" y="277977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 clip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810512" y="2779776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norm 1.0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82880" y="3035808"/>
            <a:ext cx="4160520" cy="25603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1" name="Text 29"/>
          <p:cNvSpPr/>
          <p:nvPr/>
        </p:nvSpPr>
        <p:spPr>
          <a:xfrm>
            <a:off x="228600" y="304495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810512" y="3044952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(recommend 100–400 for full run)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82880" y="3300984"/>
            <a:ext cx="4160520" cy="25603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4" name="Text 32"/>
          <p:cNvSpPr/>
          <p:nvPr/>
        </p:nvSpPr>
        <p:spPr>
          <a:xfrm>
            <a:off x="228600" y="331012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config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810512" y="3310128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embed_dim=128, depth=2, 3 epochs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00600" y="594360"/>
            <a:ext cx="4160520" cy="29260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61264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ResUNet Fine-Tuning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800600" y="914400"/>
            <a:ext cx="4160520" cy="25603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9" name="Text 37"/>
          <p:cNvSpPr/>
          <p:nvPr/>
        </p:nvSpPr>
        <p:spPr>
          <a:xfrm>
            <a:off x="4846320" y="92354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464808" y="923544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+ differential LR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00600" y="1179576"/>
            <a:ext cx="4160520" cy="25603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11887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LR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464808" y="1188720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base_lr × 0.5 = 1.5 × 10⁻⁴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800600" y="1444752"/>
            <a:ext cx="4160520" cy="25603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5" name="Text 43"/>
          <p:cNvSpPr/>
          <p:nvPr/>
        </p:nvSpPr>
        <p:spPr>
          <a:xfrm>
            <a:off x="4846320" y="1453896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LR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464808" y="1453896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base_lr = 3 × 10⁻⁴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800600" y="1709928"/>
            <a:ext cx="4160520" cy="25603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48" name="Text 46"/>
          <p:cNvSpPr/>
          <p:nvPr/>
        </p:nvSpPr>
        <p:spPr>
          <a:xfrm>
            <a:off x="4846320" y="171907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decay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464808" y="1719072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× 10⁻⁴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800600" y="1975104"/>
            <a:ext cx="4160520" cy="25603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1" name="Text 49"/>
          <p:cNvSpPr/>
          <p:nvPr/>
        </p:nvSpPr>
        <p:spPr>
          <a:xfrm>
            <a:off x="4846320" y="198424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464808" y="1984248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OneCycleLR (30% warmup, cosine)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800600" y="2240280"/>
            <a:ext cx="4160520" cy="25603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54" name="Text 52"/>
          <p:cNvSpPr/>
          <p:nvPr/>
        </p:nvSpPr>
        <p:spPr>
          <a:xfrm>
            <a:off x="4846320" y="224942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LR factor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464808" y="2249424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 (encoder and decoder)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800600" y="2505456"/>
            <a:ext cx="4160520" cy="25603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7" name="Text 55"/>
          <p:cNvSpPr/>
          <p:nvPr/>
        </p:nvSpPr>
        <p:spPr>
          <a:xfrm>
            <a:off x="4846320" y="25146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464808" y="2514600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0.5×Dice + 0.5×CrossEntropy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800600" y="2770632"/>
            <a:ext cx="4160520" cy="25603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60" name="Text 58"/>
          <p:cNvSpPr/>
          <p:nvPr/>
        </p:nvSpPr>
        <p:spPr>
          <a:xfrm>
            <a:off x="4846320" y="2779776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smoothing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464808" y="2779776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800600" y="3035808"/>
            <a:ext cx="4160520" cy="25603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3" name="Text 61"/>
          <p:cNvSpPr/>
          <p:nvPr/>
        </p:nvSpPr>
        <p:spPr>
          <a:xfrm>
            <a:off x="4846320" y="304495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weights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6464808" y="3044952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freq (NCR/ED/ET upweighted)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4800600" y="3300984"/>
            <a:ext cx="4160520" cy="25603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66" name="Text 64"/>
          <p:cNvSpPr/>
          <p:nvPr/>
        </p:nvSpPr>
        <p:spPr>
          <a:xfrm>
            <a:off x="4846320" y="331012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6464808" y="3310128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fp16 on CUDA (GradScaler)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4800600" y="3566160"/>
            <a:ext cx="4160520" cy="25603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9" name="Text 67"/>
          <p:cNvSpPr/>
          <p:nvPr/>
        </p:nvSpPr>
        <p:spPr>
          <a:xfrm>
            <a:off x="4846320" y="357530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fractions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6464808" y="3575304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and 100%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800600" y="3831336"/>
            <a:ext cx="4160520" cy="25603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72" name="Text 70"/>
          <p:cNvSpPr/>
          <p:nvPr/>
        </p:nvSpPr>
        <p:spPr>
          <a:xfrm>
            <a:off x="4846320" y="38404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6464808" y="3840480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by val Dice, saved at end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Medical-Specific Augmentations for MAE Pretraining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594360"/>
            <a:ext cx="425196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640080"/>
            <a:ext cx="4105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Noise  (std=0.02)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56032" y="896112"/>
            <a:ext cx="4105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+ N(0, σ²), clamp[0,1]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56032" y="1106424"/>
            <a:ext cx="4105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electronic thermal noise in MRI acquisition — present at varying levels across scanners.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26280" y="594360"/>
            <a:ext cx="425196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9432" y="640080"/>
            <a:ext cx="4105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Correction  (γ ∈ [0.8, 1.3])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99432" y="896112"/>
            <a:ext cx="4105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x^γ, x ∈ [ε, 1]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99432" y="1106424"/>
            <a:ext cx="4105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MRI scanner-dependent non-linear intensity mapping. Gamma &gt; 1 darkens, &lt; 1 brightens.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2880" y="1673352"/>
            <a:ext cx="425196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719072"/>
            <a:ext cx="4105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 Shift  (shift=0.05, scale=0.05)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6032" y="1975104"/>
            <a:ext cx="4105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α·x + β, clamp[0,1]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6032" y="2185416"/>
            <a:ext cx="4105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between-session and between-site intensity differences in multi-center MRI studies.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26280" y="1673352"/>
            <a:ext cx="425196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9432" y="1719072"/>
            <a:ext cx="4105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Deformation  (α=50, σ=5)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99432" y="1975104"/>
            <a:ext cx="4105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 warp via avg-pooled noise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99432" y="2185416"/>
            <a:ext cx="4105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anatomical shape variability — brain size, sulcal depth, tumour geometry differ across patients.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82880" y="2752344"/>
            <a:ext cx="425196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798064"/>
            <a:ext cx="4105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Ghosting  (intensity=0.3, n=3)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6032" y="3054096"/>
            <a:ext cx="4105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Σᵢ (x + (β/i)·roll(x, i·shift))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6032" y="3264408"/>
            <a:ext cx="4105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encoding motion ghosting — parallel shifted copies of the image superimposed at reduced intensity.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26280" y="2752344"/>
            <a:ext cx="425196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99432" y="2798064"/>
            <a:ext cx="4105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Flip  (p=0.5)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99432" y="3054096"/>
            <a:ext cx="4105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flip(x, dim=-1)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99432" y="3264408"/>
            <a:ext cx="4105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is roughly bilaterally symmetric. Doubles effective dataset size without label cost.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446020" y="3831336"/>
            <a:ext cx="425196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19172" y="3877056"/>
            <a:ext cx="4105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Flip  (p=0.5)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519172" y="4133088"/>
            <a:ext cx="4105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flip(x, dim=-2)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519172" y="4343400"/>
            <a:ext cx="4105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ordering and orientation can vary. Adds robustness to scanner coordinate conventions.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→ ResUNet Knowledge Transfer (Pseudo-Labeling)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594360"/>
            <a:ext cx="8778240" cy="914400"/>
          </a:xfrm>
          <a:prstGeom prst="rect">
            <a:avLst/>
          </a:prstGeom>
          <a:solidFill>
            <a:srgbClr val="161B22"/>
          </a:solidFill>
          <a:ln w="19050">
            <a:solidFill>
              <a:srgbClr val="E848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21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Direct Weight Transfer?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uses a Vision Transformer (flat token sequence, no spatial structure).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ResUNet uses ResNet34 (spatially-structured conv feature maps at multiple scales).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architectures are incompatible for weight transfer — a different strategy is required.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1645920"/>
            <a:ext cx="4251960" cy="1298448"/>
          </a:xfrm>
          <a:prstGeom prst="rect">
            <a:avLst/>
          </a:prstGeom>
          <a:solidFill>
            <a:srgbClr val="161B22"/>
          </a:solidFill>
          <a:ln w="19050">
            <a:solidFill>
              <a:srgbClr val="E848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1645920"/>
            <a:ext cx="457200" cy="1298448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" y="2075688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04088" y="1700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Feature Extraction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04088" y="1993392"/>
            <a:ext cx="3657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trained MAE encoder at mask_ratio=0 (no masking). Extract CLS token — the global slice representation vector (dim=128 in demo, 768 in full config). Applied to both unlabeled and labeled slices.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645920"/>
            <a:ext cx="4251960" cy="1298448"/>
          </a:xfrm>
          <a:prstGeom prst="rect">
            <a:avLst/>
          </a:prstGeom>
          <a:solidFill>
            <a:srgbClr val="161B22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645920"/>
            <a:ext cx="457200" cy="129844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2075688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184648" y="1700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Search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84648" y="1993392"/>
            <a:ext cx="3657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cosine similarity matrix between all unlabeled slice features and all labeled slice features: sim = normalize(ul_feats) @ normalize(lab_feats).T — shape (N_unlabeled, N_labeled).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2880" y="3063240"/>
            <a:ext cx="4251960" cy="1298448"/>
          </a:xfrm>
          <a:prstGeom prst="rect">
            <a:avLst/>
          </a:prstGeom>
          <a:solidFill>
            <a:srgbClr val="161B22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" y="3063240"/>
            <a:ext cx="457200" cy="129844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9" name="Text 17"/>
          <p:cNvSpPr/>
          <p:nvPr/>
        </p:nvSpPr>
        <p:spPr>
          <a:xfrm>
            <a:off x="228600" y="3493008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04088" y="31181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Gating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4088" y="3410712"/>
            <a:ext cx="3657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unlabeled slice, average similarity to top-5 nearest labeled neighbors. Keep slices with confidence ≥ 0.70. These are MRI slices structurally similar to well-annotated training examples.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3063240"/>
            <a:ext cx="4251960" cy="1298448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063240"/>
            <a:ext cx="457200" cy="129844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3493008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184648" y="31181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Expansion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84648" y="3410712"/>
            <a:ext cx="3657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up to 300 pseudo-labeled slices (capped to avoid overwhelming real labels). Add to training pool. ResUNet then trains on real labels + pseudo-labeled slices jointly.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 &amp; Expected Results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640080"/>
            <a:ext cx="2834640" cy="2103120"/>
          </a:xfrm>
          <a:prstGeom prst="rect">
            <a:avLst/>
          </a:prstGeom>
          <a:solidFill>
            <a:srgbClr val="161B22"/>
          </a:solidFill>
          <a:ln w="25400">
            <a:solidFill>
              <a:srgbClr val="2A9D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640080"/>
            <a:ext cx="2834640" cy="34747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246888" y="676656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Score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05156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234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2|P∩T| / (|P|+|T|)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61848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180136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[0, 1] — higher better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20299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221284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segmentation metric. Per-class then averaged. Measures overlap.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72968" y="640080"/>
            <a:ext cx="2834640" cy="2103120"/>
          </a:xfrm>
          <a:prstGeom prst="rect">
            <a:avLst/>
          </a:prstGeom>
          <a:solidFill>
            <a:srgbClr val="161B22"/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72968" y="640080"/>
            <a:ext cx="2834640" cy="34747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5" name="Text 13"/>
          <p:cNvSpPr/>
          <p:nvPr/>
        </p:nvSpPr>
        <p:spPr>
          <a:xfrm>
            <a:off x="3236976" y="676656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/ Jaccard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64408" y="105156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64408" y="1234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|P∩T| / |P∪T|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64408" y="161848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64408" y="180136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[0, 1] — higher better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64408" y="20299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64408" y="221284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Intersection over Union across all classes. Related to Dice.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63056" y="640080"/>
            <a:ext cx="2834640" cy="2103120"/>
          </a:xfrm>
          <a:prstGeom prst="rect">
            <a:avLst/>
          </a:prstGeom>
          <a:solidFill>
            <a:srgbClr val="161B22"/>
          </a:solidFill>
          <a:ln w="25400">
            <a:solidFill>
              <a:srgbClr val="E848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63056" y="640080"/>
            <a:ext cx="2834640" cy="347472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24" name="Text 22"/>
          <p:cNvSpPr/>
          <p:nvPr/>
        </p:nvSpPr>
        <p:spPr>
          <a:xfrm>
            <a:off x="6227064" y="676656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Hausdorff95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54496" y="105156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54496" y="1234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95th pct of max(d(P→T), d(T→P))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54496" y="161848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54496" y="180136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 — lower better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54496" y="20299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54496" y="221284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tumour core (class 1). Measures worst-case boundary error.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82880" y="2880360"/>
            <a:ext cx="8778240" cy="29260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32" name="Text 30"/>
          <p:cNvSpPr/>
          <p:nvPr/>
        </p:nvSpPr>
        <p:spPr>
          <a:xfrm>
            <a:off x="228600" y="289864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 — ResUNet (MAE+ImageNet) vs U-Net Baseline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2880" y="3200400"/>
            <a:ext cx="73152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4" name="Text 32"/>
          <p:cNvSpPr/>
          <p:nvPr/>
        </p:nvSpPr>
        <p:spPr>
          <a:xfrm>
            <a:off x="210312" y="321868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%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914400" y="3200400"/>
            <a:ext cx="109728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6" name="Text 34"/>
          <p:cNvSpPr/>
          <p:nvPr/>
        </p:nvSpPr>
        <p:spPr>
          <a:xfrm>
            <a:off x="941832" y="3218688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ResUNet Dice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011680" y="3200400"/>
            <a:ext cx="100584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8" name="Text 36"/>
          <p:cNvSpPr/>
          <p:nvPr/>
        </p:nvSpPr>
        <p:spPr>
          <a:xfrm>
            <a:off x="2039112" y="321868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UNet Dice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017520" y="3200400"/>
            <a:ext cx="109728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0" name="Text 38"/>
          <p:cNvSpPr/>
          <p:nvPr/>
        </p:nvSpPr>
        <p:spPr>
          <a:xfrm>
            <a:off x="3044952" y="3218688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ResUNet IoU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114800" y="3200400"/>
            <a:ext cx="100584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2" name="Text 40"/>
          <p:cNvSpPr/>
          <p:nvPr/>
        </p:nvSpPr>
        <p:spPr>
          <a:xfrm>
            <a:off x="4142232" y="321868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UNet IoU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120640" y="3200400"/>
            <a:ext cx="64008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4" name="Text 42"/>
          <p:cNvSpPr/>
          <p:nvPr/>
        </p:nvSpPr>
        <p:spPr>
          <a:xfrm>
            <a:off x="5148072" y="321868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Dice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760720" y="3200400"/>
            <a:ext cx="100584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6" name="Text 44"/>
          <p:cNvSpPr/>
          <p:nvPr/>
        </p:nvSpPr>
        <p:spPr>
          <a:xfrm>
            <a:off x="5788152" y="321868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ResUNet HD95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766560" y="3200400"/>
            <a:ext cx="219456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8" name="Text 46"/>
          <p:cNvSpPr/>
          <p:nvPr/>
        </p:nvSpPr>
        <p:spPr>
          <a:xfrm>
            <a:off x="6793992" y="3218688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82880" y="3502152"/>
            <a:ext cx="731520" cy="310896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50" name="Text 48"/>
          <p:cNvSpPr/>
          <p:nvPr/>
        </p:nvSpPr>
        <p:spPr>
          <a:xfrm>
            <a:off x="210312" y="352044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14400" y="3502152"/>
            <a:ext cx="1097280" cy="310896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52" name="Text 50"/>
          <p:cNvSpPr/>
          <p:nvPr/>
        </p:nvSpPr>
        <p:spPr>
          <a:xfrm>
            <a:off x="941832" y="352044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~0.52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011680" y="3502152"/>
            <a:ext cx="1005840" cy="310896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54" name="Text 52"/>
          <p:cNvSpPr/>
          <p:nvPr/>
        </p:nvSpPr>
        <p:spPr>
          <a:xfrm>
            <a:off x="2039112" y="35204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~0.38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017520" y="3502152"/>
            <a:ext cx="1097280" cy="310896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56" name="Text 54"/>
          <p:cNvSpPr/>
          <p:nvPr/>
        </p:nvSpPr>
        <p:spPr>
          <a:xfrm>
            <a:off x="3044952" y="352044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~0.35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114800" y="3502152"/>
            <a:ext cx="1005840" cy="310896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58" name="Text 56"/>
          <p:cNvSpPr/>
          <p:nvPr/>
        </p:nvSpPr>
        <p:spPr>
          <a:xfrm>
            <a:off x="4142232" y="35204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~0.23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120640" y="3502152"/>
            <a:ext cx="640080" cy="310896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60" name="Text 58"/>
          <p:cNvSpPr/>
          <p:nvPr/>
        </p:nvSpPr>
        <p:spPr>
          <a:xfrm>
            <a:off x="5148072" y="35204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+0.14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760720" y="3502152"/>
            <a:ext cx="1005840" cy="310896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62" name="Text 60"/>
          <p:cNvSpPr/>
          <p:nvPr/>
        </p:nvSpPr>
        <p:spPr>
          <a:xfrm>
            <a:off x="5788152" y="35204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~18.2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766560" y="3502152"/>
            <a:ext cx="2194560" cy="310896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64" name="Text 62"/>
          <p:cNvSpPr/>
          <p:nvPr/>
        </p:nvSpPr>
        <p:spPr>
          <a:xfrm>
            <a:off x="6793992" y="352044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transfer crucial at low labels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182880" y="3831336"/>
            <a:ext cx="731520" cy="31089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6" name="Text 64"/>
          <p:cNvSpPr/>
          <p:nvPr/>
        </p:nvSpPr>
        <p:spPr>
          <a:xfrm>
            <a:off x="210312" y="384962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914400" y="3831336"/>
            <a:ext cx="1097280" cy="31089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8" name="Text 66"/>
          <p:cNvSpPr/>
          <p:nvPr/>
        </p:nvSpPr>
        <p:spPr>
          <a:xfrm>
            <a:off x="941832" y="384962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~0.75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2011680" y="3831336"/>
            <a:ext cx="1005840" cy="31089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0" name="Text 68"/>
          <p:cNvSpPr/>
          <p:nvPr/>
        </p:nvSpPr>
        <p:spPr>
          <a:xfrm>
            <a:off x="2039112" y="384962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~0.68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3017520" y="3831336"/>
            <a:ext cx="1097280" cy="31089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2" name="Text 70"/>
          <p:cNvSpPr/>
          <p:nvPr/>
        </p:nvSpPr>
        <p:spPr>
          <a:xfrm>
            <a:off x="3044952" y="384962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~0.60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4114800" y="3831336"/>
            <a:ext cx="1005840" cy="31089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4" name="Text 72"/>
          <p:cNvSpPr/>
          <p:nvPr/>
        </p:nvSpPr>
        <p:spPr>
          <a:xfrm>
            <a:off x="4142232" y="384962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~0.52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5120640" y="3831336"/>
            <a:ext cx="640080" cy="31089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6" name="Text 74"/>
          <p:cNvSpPr/>
          <p:nvPr/>
        </p:nvSpPr>
        <p:spPr>
          <a:xfrm>
            <a:off x="5148072" y="384962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+0.07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5760720" y="3831336"/>
            <a:ext cx="1005840" cy="31089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8" name="Text 76"/>
          <p:cNvSpPr/>
          <p:nvPr/>
        </p:nvSpPr>
        <p:spPr>
          <a:xfrm>
            <a:off x="5788152" y="384962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~7.6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6766560" y="3831336"/>
            <a:ext cx="2194560" cy="31089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0" name="Text 78"/>
          <p:cNvSpPr/>
          <p:nvPr/>
        </p:nvSpPr>
        <p:spPr>
          <a:xfrm>
            <a:off x="6793992" y="384962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improve; ResUNet still leads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182880" y="4224528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Values are illustrative based on published BraTS SSL results. Actual values depend on epochs, GPU, and full dataset.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Visualizations — 5 Key Plots Generated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594360"/>
            <a:ext cx="4251960" cy="1481328"/>
          </a:xfrm>
          <a:prstGeom prst="rect">
            <a:avLst/>
          </a:prstGeom>
          <a:solidFill>
            <a:srgbClr val="161B22"/>
          </a:solidFill>
          <a:ln w="19050">
            <a:solidFill>
              <a:srgbClr val="E848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594360"/>
            <a:ext cx="4251960" cy="310896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6" name="Text 4"/>
          <p:cNvSpPr/>
          <p:nvPr/>
        </p:nvSpPr>
        <p:spPr>
          <a:xfrm>
            <a:off x="246888" y="630936"/>
            <a:ext cx="4123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1: MAE Loss Curve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46888" y="941832"/>
            <a:ext cx="4123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💾 mae_pretrain_loss.png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46888" y="1161288"/>
            <a:ext cx="41239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reconstruction loss on masked patches vs. training epoch. Includes ±5% shaded uncertainty band. Expect steady decrease as the ViT learns to reconstruct brain anatomy from only 25% visible patches.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594360"/>
            <a:ext cx="4251960" cy="1481328"/>
          </a:xfrm>
          <a:prstGeom prst="rect">
            <a:avLst/>
          </a:prstGeom>
          <a:solidFill>
            <a:srgbClr val="161B22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594360"/>
            <a:ext cx="4251960" cy="310896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4773168" y="630936"/>
            <a:ext cx="4123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2: Training Curves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73168" y="941832"/>
            <a:ext cx="4123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💾 resunet_vs_unet_curves.png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73168" y="1161288"/>
            <a:ext cx="41239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Side-by-side: left — DiceCE training loss; right — validation Dice. Both models at 5% and 100% label fractions. Solid = ResUNet, Dashed = U-Net. Expect ResUNet to converge faster and reach higher Dice.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82880" y="2148840"/>
            <a:ext cx="2743200" cy="2706624"/>
          </a:xfrm>
          <a:prstGeom prst="rect">
            <a:avLst/>
          </a:prstGeom>
          <a:solidFill>
            <a:srgbClr val="161B22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" y="2148840"/>
            <a:ext cx="2743200" cy="310896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6" name="Text 14"/>
          <p:cNvSpPr/>
          <p:nvPr/>
        </p:nvSpPr>
        <p:spPr>
          <a:xfrm>
            <a:off x="246888" y="2185416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3: Grouped Bar — Dice by Label Fraction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6888" y="2496312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💾 resunet_vs_unet_bars.png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46888" y="2715768"/>
            <a:ext cx="26151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Dice scores for ResUNet vs U-Net at each label fraction. Values annotated on bars. ResUNet advantage is expected to be larger at low label budgets (5%) due to ImageNet pretraining.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154680" y="2148840"/>
            <a:ext cx="3200400" cy="2706624"/>
          </a:xfrm>
          <a:prstGeom prst="rect">
            <a:avLst/>
          </a:prstGeom>
          <a:solidFill>
            <a:srgbClr val="161B22"/>
          </a:solidFill>
          <a:ln w="19050">
            <a:solidFill>
              <a:srgbClr val="7B2F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54680" y="2148840"/>
            <a:ext cx="3200400" cy="310896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21" name="Text 19"/>
          <p:cNvSpPr/>
          <p:nvPr/>
        </p:nvSpPr>
        <p:spPr>
          <a:xfrm>
            <a:off x="3218688" y="2185416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4: Prediction Grid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18688" y="2496312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💾 resunet_vs_unet_predictions.png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18688" y="2715768"/>
            <a:ext cx="30723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4×4 grid: Row 1 = Input MRI. Row 2 = Ground Truth. Row 3 = ResUNet prediction. Row 4 = U-Net prediction. Color legend: Black=BG, Red=NCR, Green=ED, Blue=ET. Qualitatively shows ResUNet preserves tumour boundaries better.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537960" y="2148840"/>
            <a:ext cx="2423160" cy="2706624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37960" y="2148840"/>
            <a:ext cx="2423160" cy="31089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6" name="Text 24"/>
          <p:cNvSpPr/>
          <p:nvPr/>
        </p:nvSpPr>
        <p:spPr>
          <a:xfrm>
            <a:off x="6601968" y="2185416"/>
            <a:ext cx="2295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5: MAE Reconstructions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601968" y="2496312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💾 mae_reconstructions.png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01968" y="2715768"/>
            <a:ext cx="22951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3×4 grid of 4 BraTS slices: Row 1 = Original. Row 2 = Input with 75% patches zeroed. Row 3 = Reconstructed. Shows the quality of MAE reconstruction — a strong reconstruction indicates a rich feature space.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Key Takeaways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594360"/>
            <a:ext cx="4251960" cy="1353312"/>
          </a:xfrm>
          <a:prstGeom prst="rect">
            <a:avLst/>
          </a:prstGeom>
          <a:solidFill>
            <a:srgbClr val="161B22"/>
          </a:solidFill>
          <a:ln w="19050">
            <a:solidFill>
              <a:srgbClr val="E848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594360"/>
            <a:ext cx="4251960" cy="329184"/>
          </a:xfrm>
          <a:prstGeom prst="rect">
            <a:avLst/>
          </a:prstGeom>
          <a:solidFill>
            <a:srgbClr val="E84855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3093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 MAE Pre-training Works for Medical Images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74320" y="978408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masking forces ViT to capture long-range anatomical context, not just local textures. Brain MRI augmentations (ghosting, elastic deform) prevent trivial shortcuts during reconstruction.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594360"/>
            <a:ext cx="4251960" cy="1353312"/>
          </a:xfrm>
          <a:prstGeom prst="rect">
            <a:avLst/>
          </a:prstGeom>
          <a:solidFill>
            <a:srgbClr val="161B22"/>
          </a:solidFill>
          <a:ln w="19050">
            <a:solidFill>
              <a:srgbClr val="7B2FB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594360"/>
            <a:ext cx="4251960" cy="329184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63093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Pseudo-Labeling Bridges Incompatible Architectures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54880" y="978408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and ResNet cannot share weights directly. CLS token similarity in MAE feature space provides a model-agnostic bridge — confident unlabeled slices enrich the training pool.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2880" y="2029968"/>
            <a:ext cx="4251960" cy="1353312"/>
          </a:xfrm>
          <a:prstGeom prst="rect">
            <a:avLst/>
          </a:prstGeom>
          <a:solidFill>
            <a:srgbClr val="161B22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" y="2029968"/>
            <a:ext cx="4251960" cy="32918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206654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ResUNet Outperforms Plain U-Net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4320" y="2414016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pre-training gives ResNet34 encoder a strong initialization. Differential LR (encoder 0.5×) prevents over-distorting pretrained weights. OneCycleLR ensures fast, stable convergence.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029968"/>
            <a:ext cx="4251960" cy="1353312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029968"/>
            <a:ext cx="4251960" cy="32918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206654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Biggest Gains at Low Label Budgets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54880" y="2414016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5% labels, SSL pre-training + pseudo-labeling provides ~14% Dice improvement over plain U-Net. At 100% labels, the gap narrows (~7%) but ResUNet still wins.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2880" y="3465576"/>
            <a:ext cx="4251960" cy="1353312"/>
          </a:xfrm>
          <a:prstGeom prst="rect">
            <a:avLst/>
          </a:prstGeom>
          <a:solidFill>
            <a:srgbClr val="161B22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3465576"/>
            <a:ext cx="4251960" cy="32918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350215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Engineering Choices Matter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74320" y="3849624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Class-weighted CE + label smoothing are critical for BraTS (90% background). AMP halves training time on GPU. Best-model checkpoint guards against overfitting at late epochs.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3465576"/>
            <a:ext cx="4251960" cy="1353312"/>
          </a:xfrm>
          <a:prstGeom prst="rect">
            <a:avLst/>
          </a:prstGeom>
          <a:solidFill>
            <a:srgbClr val="161B22"/>
          </a:solidFill>
          <a:ln w="19050">
            <a:solidFill>
              <a:srgbClr val="D299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3465576"/>
            <a:ext cx="4251960" cy="329184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350215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Clinical Relevance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54880" y="3849624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HD95 on tumour core measures worst-case boundary error in clinical-unit pixels. Reducing HD95 means more precise surgical planning boundaries. NCR/ED/ET class structure aligns with clinical sub-region assessment.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MAE Pretraining for Medical Image Segmentation — BraTS Edition</dc:title>
  <dc:subject>PptxGenJS Presentation</dc:subject>
  <dc:creator>PptxGenJS</dc:creator>
  <cp:lastModifiedBy>PptxGenJS</cp:lastModifiedBy>
  <cp:revision>1</cp:revision>
  <dcterms:created xsi:type="dcterms:W3CDTF">2026-05-27T09:11:35Z</dcterms:created>
  <dcterms:modified xsi:type="dcterms:W3CDTF">2026-05-27T09:11:35Z</dcterms:modified>
</cp:coreProperties>
</file>